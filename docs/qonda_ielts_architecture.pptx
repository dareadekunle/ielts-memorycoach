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1E"/>
          </a:solidFill>
          <a:ln w="12700">
            <a:solidFill>
              <a:srgbClr val="0710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560320"/>
            <a:ext cx="5029200" cy="5029200"/>
          </a:xfrm>
          <a:prstGeom prst="ellipse">
            <a:avLst/>
          </a:prstGeom>
          <a:solidFill>
            <a:srgbClr val="FF6520">
              <a:alpha val="12000"/>
            </a:srgbClr>
          </a:solidFill>
          <a:ln w="12700">
            <a:solidFill>
              <a:srgbClr val="FF6520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-731520"/>
            <a:ext cx="2926080" cy="2926080"/>
          </a:xfrm>
          <a:prstGeom prst="ellipse">
            <a:avLst/>
          </a:prstGeom>
          <a:solidFill>
            <a:srgbClr val="00C9A0">
              <a:alpha val="10000"/>
            </a:srgbClr>
          </a:solidFill>
          <a:ln w="12700">
            <a:solidFill>
              <a:srgbClr val="00C9A0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FF6520"/>
          </a:solidFill>
          <a:ln w="12700">
            <a:solidFill>
              <a:srgbClr val="FF6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8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Qonda IELTS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11480" y="29260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IELTS Memory Coach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33832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6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Grasp English. Retain for life.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46817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1: MemoryAgent  ·  Qwen Hackathon 2026  ·  Alibaba Cloud Model Studio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903720" y="914400"/>
            <a:ext cx="1828800" cy="292608"/>
          </a:xfrm>
          <a:prstGeom prst="roundRect">
            <a:avLst>
              <a:gd name="adj" fmla="val 12500"/>
            </a:avLst>
          </a:prstGeom>
          <a:solidFill>
            <a:srgbClr val="152641"/>
          </a:solidFill>
          <a:ln w="9525">
            <a:solidFill>
              <a:srgbClr val="243D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914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ielts.qonda.xyz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1E"/>
          </a:solidFill>
          <a:ln w="12700">
            <a:solidFill>
              <a:srgbClr val="0710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IELTS Preparation Is Broken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37960" y="1005840"/>
            <a:ext cx="2286000" cy="2011680"/>
          </a:xfrm>
          <a:prstGeom prst="roundRect">
            <a:avLst>
              <a:gd name="adj" fmla="val 3636"/>
            </a:avLst>
          </a:prstGeom>
          <a:solidFill>
            <a:srgbClr val="0C1A30"/>
          </a:solidFill>
          <a:ln w="9525">
            <a:solidFill>
              <a:srgbClr val="FF6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37960" y="107899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537960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IELTS re-takers score the same band or lower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005840"/>
            <a:ext cx="1874520" cy="2286000"/>
          </a:xfrm>
          <a:prstGeom prst="roundRect">
            <a:avLst>
              <a:gd name="adj" fmla="val 3902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115568"/>
            <a:ext cx="347472" cy="228600"/>
          </a:xfrm>
          <a:prstGeom prst="roundRect">
            <a:avLst>
              <a:gd name="adj" fmla="val 16000"/>
            </a:avLst>
          </a:prstGeom>
          <a:solidFill>
            <a:srgbClr val="FF6520"/>
          </a:solidFill>
          <a:ln w="9525">
            <a:solidFill>
              <a:srgbClr val="FF6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1556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4447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8745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coaching session starts from zero. Past mistakes are invisible. Learners repeat the same errors indefinitely.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1005840"/>
            <a:ext cx="1874520" cy="2286000"/>
          </a:xfrm>
          <a:prstGeom prst="roundRect">
            <a:avLst>
              <a:gd name="adj" fmla="val 3902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1115568"/>
            <a:ext cx="347472" cy="228600"/>
          </a:xfrm>
          <a:prstGeom prst="roundRect">
            <a:avLst>
              <a:gd name="adj" fmla="val 16000"/>
            </a:avLst>
          </a:prstGeom>
          <a:solidFill>
            <a:srgbClr val="FF6520"/>
          </a:solidFill>
          <a:ln w="9525">
            <a:solidFill>
              <a:srgbClr val="FF65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11556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14600" y="14447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Feedback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14600" y="18745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give identical advice to Band 5 and Band 7 learners. No adaptation to the individual's actual gaps.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1005840"/>
            <a:ext cx="1874520" cy="2286000"/>
          </a:xfrm>
          <a:prstGeom prst="roundRect">
            <a:avLst>
              <a:gd name="adj" fmla="val 3902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6280" y="1115568"/>
            <a:ext cx="347472" cy="228600"/>
          </a:xfrm>
          <a:prstGeom prst="roundRect">
            <a:avLst>
              <a:gd name="adj" fmla="val 16000"/>
            </a:avLst>
          </a:prstGeom>
          <a:solidFill>
            <a:srgbClr val="FF6520"/>
          </a:solidFill>
          <a:ln w="9525">
            <a:solidFill>
              <a:srgbClr val="FF65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111556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26280" y="14447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Plan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26280" y="18745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scheduling. Weakest skills go undetected. No integration with real tools like Google Calendar.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4564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A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result: learners plateau, teachers repeat themselves, progress stagnates.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ielts.qonda.xyz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1E"/>
          </a:solidFill>
          <a:ln w="12700">
            <a:solidFill>
              <a:srgbClr val="0710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Qonda: Four Innovations in One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938528" cy="3566160"/>
          </a:xfrm>
          <a:prstGeom prst="roundRect">
            <a:avLst>
              <a:gd name="adj" fmla="val 3774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51560"/>
            <a:ext cx="1938528" cy="164592"/>
          </a:xfrm>
          <a:prstGeom prst="roundRect">
            <a:avLst>
              <a:gd name="adj" fmla="val 33333"/>
            </a:avLst>
          </a:prstGeom>
          <a:solidFill>
            <a:srgbClr val="00C9A0"/>
          </a:solidFill>
          <a:ln w="12700">
            <a:solidFill>
              <a:srgbClr val="00C9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0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1755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semantic + spaced repetition scoring retains what matters across every session.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6312" y="1051560"/>
            <a:ext cx="1938528" cy="3566160"/>
          </a:xfrm>
          <a:prstGeom prst="roundRect">
            <a:avLst>
              <a:gd name="adj" fmla="val 3774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96312" y="1051560"/>
            <a:ext cx="1938528" cy="164592"/>
          </a:xfrm>
          <a:prstGeom prst="roundRect">
            <a:avLst>
              <a:gd name="adj" fmla="val 33333"/>
            </a:avLst>
          </a:prstGeom>
          <a:solidFill>
            <a:srgbClr val="FF6520"/>
          </a:solidFill>
          <a:ln w="12700">
            <a:solidFill>
              <a:srgbClr val="FF65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129844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FF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87752" y="153619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Pedagogy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87752" y="1993392"/>
            <a:ext cx="1755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teaching frameworks, 4 learner stages, band-gated fading. Python picks the method; Qwen delivers it.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81144" y="1051560"/>
            <a:ext cx="1938528" cy="3566160"/>
          </a:xfrm>
          <a:prstGeom prst="roundRect">
            <a:avLst>
              <a:gd name="adj" fmla="val 3774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81144" y="1051560"/>
            <a:ext cx="1938528" cy="164592"/>
          </a:xfrm>
          <a:prstGeom prst="roundRect">
            <a:avLst>
              <a:gd name="adj" fmla="val 33333"/>
            </a:avLst>
          </a:prstGeom>
          <a:solidFill>
            <a:srgbClr val="4A9FFF"/>
          </a:solidFill>
          <a:ln w="12700">
            <a:solidFill>
              <a:srgbClr val="4A9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129844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4A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MULTI-SURFACE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72584" y="153619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3-Surface Access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72584" y="1993392"/>
            <a:ext cx="1755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App, Telegram Bot, and Study Plan page — Qwen powers coaching across all surfaces from one shared backend.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65976" y="1051560"/>
            <a:ext cx="1938528" cy="3566160"/>
          </a:xfrm>
          <a:prstGeom prst="roundRect">
            <a:avLst>
              <a:gd name="adj" fmla="val 3774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65976" y="1051560"/>
            <a:ext cx="1938528" cy="164592"/>
          </a:xfrm>
          <a:prstGeom prst="roundRect">
            <a:avLst>
              <a:gd name="adj" fmla="val 33333"/>
            </a:avLst>
          </a:prstGeom>
          <a:solidFill>
            <a:srgbClr val="9B7FFF"/>
          </a:solidFill>
          <a:ln w="12700">
            <a:solidFill>
              <a:srgbClr val="9B7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57416" y="129844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9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57416" y="153619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57416" y="1993392"/>
            <a:ext cx="1755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study plan targeting weakest skills. RRULE events pushed to Google Calendar automatically.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6817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Alibaba Cloud ECS · 6 Qwen APIs · PostgreSQL 16 · FastAPI · React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1E"/>
          </a:solidFill>
          <a:ln w="12700">
            <a:solidFill>
              <a:srgbClr val="0710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on Alibaba Cloud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0" y="777240"/>
            <a:ext cx="3977640" cy="3931920"/>
          </a:xfrm>
          <a:prstGeom prst="roundRect">
            <a:avLst>
              <a:gd name="adj" fmla="val 2326"/>
            </a:avLst>
          </a:prstGeom>
          <a:solidFill>
            <a:srgbClr val="152641"/>
          </a:solidFill>
          <a:ln w="9525">
            <a:solidFill>
              <a:srgbClr val="FF6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97480" y="822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FF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CLOUD ECS · SINGAPORE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0" y="1078992"/>
            <a:ext cx="3566160" cy="347472"/>
          </a:xfrm>
          <a:prstGeom prst="roundRect">
            <a:avLst>
              <a:gd name="adj" fmla="val 13158"/>
            </a:avLst>
          </a:prstGeom>
          <a:solidFill>
            <a:srgbClr val="0C1A30"/>
          </a:solidFill>
          <a:ln w="9525">
            <a:solidFill>
              <a:srgbClr val="243D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0789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 :80/:443  ·  TLS  ·  SSE proxy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536192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0C1A30"/>
          </a:solidFill>
          <a:ln w="9525">
            <a:solidFill>
              <a:srgbClr val="243D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572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Port 8000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1874520"/>
            <a:ext cx="1600200" cy="411480"/>
          </a:xfrm>
          <a:prstGeom prst="roundRect">
            <a:avLst>
              <a:gd name="adj" fmla="val 11111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2048256"/>
            <a:ext cx="73152" cy="73152"/>
          </a:xfrm>
          <a:prstGeom prst="ellipse">
            <a:avLst/>
          </a:prstGeom>
          <a:solidFill>
            <a:srgbClr val="00C9A0"/>
          </a:solidFill>
          <a:ln w="12700">
            <a:solidFill>
              <a:srgbClr val="00C9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5808" y="18745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Agent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874520"/>
            <a:ext cx="1600200" cy="411480"/>
          </a:xfrm>
          <a:prstGeom prst="roundRect">
            <a:avLst>
              <a:gd name="adj" fmla="val 11111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048256"/>
            <a:ext cx="73152" cy="73152"/>
          </a:xfrm>
          <a:prstGeom prst="ellipse">
            <a:avLst/>
          </a:prstGeom>
          <a:solidFill>
            <a:srgbClr val="4A9FFF"/>
          </a:solidFill>
          <a:ln w="12700">
            <a:solidFill>
              <a:srgbClr val="4A9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8745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Agent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834640" y="2514600"/>
            <a:ext cx="1600200" cy="411480"/>
          </a:xfrm>
          <a:prstGeom prst="roundRect">
            <a:avLst>
              <a:gd name="adj" fmla="val 11111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2688336"/>
            <a:ext cx="73152" cy="73152"/>
          </a:xfrm>
          <a:prstGeom prst="ellipse">
            <a:avLst/>
          </a:prstGeom>
          <a:solidFill>
            <a:srgbClr val="FF6520"/>
          </a:solidFill>
          <a:ln w="12700">
            <a:solidFill>
              <a:srgbClr val="FF65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35808" y="25146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Agent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2514600"/>
            <a:ext cx="1600200" cy="411480"/>
          </a:xfrm>
          <a:prstGeom prst="roundRect">
            <a:avLst>
              <a:gd name="adj" fmla="val 11111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688336"/>
            <a:ext cx="73152" cy="73152"/>
          </a:xfrm>
          <a:prstGeom prst="ellipse">
            <a:avLst/>
          </a:prstGeom>
          <a:solidFill>
            <a:srgbClr val="9B7FFF"/>
          </a:solidFill>
          <a:ln w="12700">
            <a:solidFill>
              <a:srgbClr val="9B7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5146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Agent (Telegram)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88920" y="3035808"/>
            <a:ext cx="2148840" cy="475488"/>
          </a:xfrm>
          <a:prstGeom prst="roundRect">
            <a:avLst>
              <a:gd name="adj" fmla="val 9615"/>
            </a:avLst>
          </a:prstGeom>
          <a:solidFill>
            <a:srgbClr val="152641"/>
          </a:solidFill>
          <a:ln w="9525">
            <a:solidFill>
              <a:srgbClr val="00C9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3054096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Service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0.45·cosine + 0.55·SR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83480" y="3035808"/>
            <a:ext cx="1325880" cy="475488"/>
          </a:xfrm>
          <a:prstGeom prst="roundRect">
            <a:avLst>
              <a:gd name="adj" fmla="val 9615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3054096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Pedagogy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frameworks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0" y="3621024"/>
            <a:ext cx="3566160" cy="438912"/>
          </a:xfrm>
          <a:prstGeom prst="roundRect">
            <a:avLst>
              <a:gd name="adj" fmla="val 10417"/>
            </a:avLst>
          </a:prstGeom>
          <a:solidFill>
            <a:srgbClr val="0C1A30"/>
          </a:solidFill>
          <a:ln w="9525">
            <a:solidFill>
              <a:srgbClr val="4A9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61488" y="3639312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 ·  learner_memories  ·  learner_skill_ranks  ·  study_schedules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1463040"/>
            <a:ext cx="2011680" cy="1005840"/>
          </a:xfrm>
          <a:prstGeom prst="roundRect">
            <a:avLst>
              <a:gd name="adj" fmla="val 6364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" y="1920240"/>
            <a:ext cx="73152" cy="73152"/>
          </a:xfrm>
          <a:prstGeom prst="ellipse">
            <a:avLst/>
          </a:prstGeom>
          <a:solidFill>
            <a:srgbClr val="4A9FFF"/>
          </a:solidFill>
          <a:ln w="12700">
            <a:solidFill>
              <a:srgbClr val="4A9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1463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1965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359152" y="1938528"/>
            <a:ext cx="365760" cy="0"/>
          </a:xfrm>
          <a:prstGeom prst="line">
            <a:avLst/>
          </a:prstGeom>
          <a:noFill/>
          <a:ln w="12700">
            <a:solidFill>
              <a:srgbClr val="4A9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017520"/>
            <a:ext cx="2011680" cy="1005840"/>
          </a:xfrm>
          <a:prstGeom prst="roundRect">
            <a:avLst>
              <a:gd name="adj" fmla="val 6364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" y="3474720"/>
            <a:ext cx="73152" cy="73152"/>
          </a:xfrm>
          <a:prstGeom prst="ellipse">
            <a:avLst/>
          </a:prstGeom>
          <a:solidFill>
            <a:srgbClr val="00C9A0"/>
          </a:solidFill>
          <a:ln w="12700">
            <a:solidFill>
              <a:srgbClr val="00C9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017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4360" y="3520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@qieltsbot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359152" y="3493008"/>
            <a:ext cx="365760" cy="0"/>
          </a:xfrm>
          <a:prstGeom prst="line">
            <a:avLst/>
          </a:prstGeom>
          <a:noFill/>
          <a:ln w="12700">
            <a:solidFill>
              <a:srgbClr val="00C9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48272" y="77724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0C1A30"/>
          </a:solidFill>
          <a:ln w="9525">
            <a:solidFill>
              <a:srgbClr val="FF65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84848" y="841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APIs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839712" y="1115568"/>
            <a:ext cx="1901952" cy="411480"/>
          </a:xfrm>
          <a:prstGeom prst="roundRect">
            <a:avLst>
              <a:gd name="adj" fmla="val 8889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9440" y="1298448"/>
            <a:ext cx="73152" cy="73152"/>
          </a:xfrm>
          <a:prstGeom prst="ellipse">
            <a:avLst/>
          </a:prstGeom>
          <a:solidFill>
            <a:srgbClr val="FF6520"/>
          </a:solidFill>
          <a:ln w="12700">
            <a:solidFill>
              <a:srgbClr val="FF65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77456" y="111556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qwen-plus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839712" y="1636776"/>
            <a:ext cx="1901952" cy="411480"/>
          </a:xfrm>
          <a:prstGeom prst="roundRect">
            <a:avLst>
              <a:gd name="adj" fmla="val 8889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49440" y="1819656"/>
            <a:ext cx="73152" cy="73152"/>
          </a:xfrm>
          <a:prstGeom prst="ellipse">
            <a:avLst/>
          </a:prstGeom>
          <a:solidFill>
            <a:srgbClr val="FF6520"/>
          </a:solidFill>
          <a:ln w="12700">
            <a:solidFill>
              <a:srgbClr val="FF65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77456" y="1636776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qwen-turbo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839712" y="2157984"/>
            <a:ext cx="1901952" cy="411480"/>
          </a:xfrm>
          <a:prstGeom prst="roundRect">
            <a:avLst>
              <a:gd name="adj" fmla="val 8889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49440" y="2340864"/>
            <a:ext cx="73152" cy="73152"/>
          </a:xfrm>
          <a:prstGeom prst="ellipse">
            <a:avLst/>
          </a:prstGeom>
          <a:solidFill>
            <a:srgbClr val="FF6520"/>
          </a:solidFill>
          <a:ln w="12700">
            <a:solidFill>
              <a:srgbClr val="FF65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77456" y="2157984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qwen-vl-plus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839712" y="2679192"/>
            <a:ext cx="1901952" cy="411480"/>
          </a:xfrm>
          <a:prstGeom prst="roundRect">
            <a:avLst>
              <a:gd name="adj" fmla="val 8889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49440" y="2862072"/>
            <a:ext cx="73152" cy="73152"/>
          </a:xfrm>
          <a:prstGeom prst="ellipse">
            <a:avLst/>
          </a:prstGeom>
          <a:solidFill>
            <a:srgbClr val="FF6520"/>
          </a:solidFill>
          <a:ln w="12700">
            <a:solidFill>
              <a:srgbClr val="FF652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77456" y="267919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qwen3-asr-flash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39712" y="3200400"/>
            <a:ext cx="1901952" cy="411480"/>
          </a:xfrm>
          <a:prstGeom prst="roundRect">
            <a:avLst>
              <a:gd name="adj" fmla="val 8889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49440" y="3383280"/>
            <a:ext cx="73152" cy="73152"/>
          </a:xfrm>
          <a:prstGeom prst="ellipse">
            <a:avLst/>
          </a:prstGeom>
          <a:solidFill>
            <a:srgbClr val="FF6520"/>
          </a:solidFill>
          <a:ln w="12700">
            <a:solidFill>
              <a:srgbClr val="FF65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77456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qwen3-tts-flash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39712" y="3721608"/>
            <a:ext cx="1901952" cy="411480"/>
          </a:xfrm>
          <a:prstGeom prst="roundRect">
            <a:avLst>
              <a:gd name="adj" fmla="val 8889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49440" y="3904488"/>
            <a:ext cx="73152" cy="73152"/>
          </a:xfrm>
          <a:prstGeom prst="ellipse">
            <a:avLst/>
          </a:prstGeom>
          <a:solidFill>
            <a:srgbClr val="FF6520"/>
          </a:solidFill>
          <a:ln w="12700">
            <a:solidFill>
              <a:srgbClr val="FF652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77456" y="372160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text-embedding-v3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839712" y="4242816"/>
            <a:ext cx="1901952" cy="320040"/>
          </a:xfrm>
          <a:prstGeom prst="roundRect">
            <a:avLst>
              <a:gd name="adj" fmla="val 11429"/>
            </a:avLst>
          </a:prstGeom>
          <a:solidFill>
            <a:srgbClr val="152641"/>
          </a:solidFill>
          <a:ln w="9525">
            <a:solidFill>
              <a:srgbClr val="FF652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58000" y="4242816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OSS  (audio CDN)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556248" y="2743200"/>
            <a:ext cx="256032" cy="0"/>
          </a:xfrm>
          <a:prstGeom prst="line">
            <a:avLst/>
          </a:prstGeom>
          <a:noFill/>
          <a:ln w="12700">
            <a:solidFill>
              <a:srgbClr val="FF652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4672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ielts.qonda.xyz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1E"/>
          </a:solidFill>
          <a:ln w="12700">
            <a:solidFill>
              <a:srgbClr val="0710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INTEGRATION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Qwen APIs — One Unified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70048" cy="1664208"/>
          </a:xfrm>
          <a:prstGeom prst="roundRect">
            <a:avLst>
              <a:gd name="adj" fmla="val 4396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2670048" cy="146304"/>
          </a:xfrm>
          <a:prstGeom prst="roundRect">
            <a:avLst>
              <a:gd name="adj" fmla="val 37500"/>
            </a:avLst>
          </a:prstGeom>
          <a:solidFill>
            <a:srgbClr val="FF6520"/>
          </a:solidFill>
          <a:ln w="12700">
            <a:solidFill>
              <a:srgbClr val="FF65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527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qwen-plus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1600200"/>
            <a:ext cx="822960" cy="201168"/>
          </a:xfrm>
          <a:prstGeom prst="roundRect">
            <a:avLst>
              <a:gd name="adj" fmla="val 13636"/>
            </a:avLst>
          </a:prstGeom>
          <a:solidFill>
            <a:srgbClr val="152641"/>
          </a:solidFill>
          <a:ln w="9525">
            <a:solidFill>
              <a:srgbClr val="243D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6002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" y="1874520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 evaluation, chat coaching, Telegram agent, tutor sessions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1051560"/>
            <a:ext cx="2670048" cy="1664208"/>
          </a:xfrm>
          <a:prstGeom prst="roundRect">
            <a:avLst>
              <a:gd name="adj" fmla="val 4396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1051560"/>
            <a:ext cx="2670048" cy="146304"/>
          </a:xfrm>
          <a:prstGeom prst="roundRect">
            <a:avLst>
              <a:gd name="adj" fmla="val 37500"/>
            </a:avLst>
          </a:prstGeom>
          <a:solidFill>
            <a:srgbClr val="FF6520"/>
          </a:solidFill>
          <a:ln w="12700">
            <a:solidFill>
              <a:srgbClr val="FF65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82696" y="12527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qwen-turbo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82696" y="1600200"/>
            <a:ext cx="822960" cy="201168"/>
          </a:xfrm>
          <a:prstGeom prst="roundRect">
            <a:avLst>
              <a:gd name="adj" fmla="val 13636"/>
            </a:avLst>
          </a:prstGeom>
          <a:solidFill>
            <a:srgbClr val="152641"/>
          </a:solidFill>
          <a:ln w="9525">
            <a:solidFill>
              <a:srgbClr val="243D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16002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82696" y="1874520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classification (13 skills), JSON repair, fast structured tasks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0176" y="1051560"/>
            <a:ext cx="2670048" cy="1664208"/>
          </a:xfrm>
          <a:prstGeom prst="roundRect">
            <a:avLst>
              <a:gd name="adj" fmla="val 4396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0176" y="1051560"/>
            <a:ext cx="2670048" cy="146304"/>
          </a:xfrm>
          <a:prstGeom prst="roundRect">
            <a:avLst>
              <a:gd name="adj" fmla="val 37500"/>
            </a:avLst>
          </a:prstGeom>
          <a:solidFill>
            <a:srgbClr val="FF6520"/>
          </a:solidFill>
          <a:ln w="12700">
            <a:solidFill>
              <a:srgbClr val="FF65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9904" y="12527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qwen-vl-plus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9904" y="1600200"/>
            <a:ext cx="822960" cy="201168"/>
          </a:xfrm>
          <a:prstGeom prst="roundRect">
            <a:avLst>
              <a:gd name="adj" fmla="val 13636"/>
            </a:avLst>
          </a:prstGeom>
          <a:solidFill>
            <a:srgbClr val="152641"/>
          </a:solidFill>
          <a:ln w="9525">
            <a:solidFill>
              <a:srgbClr val="243D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9904" y="16002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89904" y="1874520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— extract text from handwritten essay images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2670048" cy="1664208"/>
          </a:xfrm>
          <a:prstGeom prst="roundRect">
            <a:avLst>
              <a:gd name="adj" fmla="val 4396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926080"/>
            <a:ext cx="2670048" cy="146304"/>
          </a:xfrm>
          <a:prstGeom prst="roundRect">
            <a:avLst>
              <a:gd name="adj" fmla="val 37500"/>
            </a:avLst>
          </a:prstGeom>
          <a:solidFill>
            <a:srgbClr val="FF6520"/>
          </a:solidFill>
          <a:ln w="12700">
            <a:solidFill>
              <a:srgbClr val="FF65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1272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qwen3-asr-flash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" y="3474720"/>
            <a:ext cx="822960" cy="201168"/>
          </a:xfrm>
          <a:prstGeom prst="roundRect">
            <a:avLst>
              <a:gd name="adj" fmla="val 13636"/>
            </a:avLst>
          </a:prstGeom>
          <a:solidFill>
            <a:srgbClr val="152641"/>
          </a:solidFill>
          <a:ln w="9525">
            <a:solidFill>
              <a:srgbClr val="243D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4747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DashScope SDK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" y="3749040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for Speaking Coach; audio compressed to 16kHz mono first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72968" y="2926080"/>
            <a:ext cx="2670048" cy="1664208"/>
          </a:xfrm>
          <a:prstGeom prst="roundRect">
            <a:avLst>
              <a:gd name="adj" fmla="val 4396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72968" y="2926080"/>
            <a:ext cx="2670048" cy="146304"/>
          </a:xfrm>
          <a:prstGeom prst="roundRect">
            <a:avLst>
              <a:gd name="adj" fmla="val 37500"/>
            </a:avLst>
          </a:prstGeom>
          <a:solidFill>
            <a:srgbClr val="FF6520"/>
          </a:solidFill>
          <a:ln w="12700">
            <a:solidFill>
              <a:srgbClr val="FF65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82696" y="31272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qwen3-tts-flash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82696" y="3474720"/>
            <a:ext cx="822960" cy="201168"/>
          </a:xfrm>
          <a:prstGeom prst="roundRect">
            <a:avLst>
              <a:gd name="adj" fmla="val 13636"/>
            </a:avLst>
          </a:prstGeom>
          <a:solidFill>
            <a:srgbClr val="152641"/>
          </a:solidFill>
          <a:ln w="9525">
            <a:solidFill>
              <a:srgbClr val="243D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82696" y="34747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DashScope SDK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82696" y="3749040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(Cherry voice) for Listening Coach; audio cached on OSS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0176" y="2926080"/>
            <a:ext cx="2670048" cy="1664208"/>
          </a:xfrm>
          <a:prstGeom prst="roundRect">
            <a:avLst>
              <a:gd name="adj" fmla="val 4396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80176" y="2926080"/>
            <a:ext cx="2670048" cy="146304"/>
          </a:xfrm>
          <a:prstGeom prst="roundRect">
            <a:avLst>
              <a:gd name="adj" fmla="val 37500"/>
            </a:avLst>
          </a:prstGeom>
          <a:solidFill>
            <a:srgbClr val="FF6520"/>
          </a:solidFill>
          <a:ln w="12700">
            <a:solidFill>
              <a:srgbClr val="FF65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9904" y="31272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text-embedding-v3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089904" y="3474720"/>
            <a:ext cx="822960" cy="201168"/>
          </a:xfrm>
          <a:prstGeom prst="roundRect">
            <a:avLst>
              <a:gd name="adj" fmla="val 13636"/>
            </a:avLst>
          </a:prstGeom>
          <a:solidFill>
            <a:srgbClr val="152641"/>
          </a:solidFill>
          <a:ln w="9525">
            <a:solidFill>
              <a:srgbClr val="243D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9904" y="34747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DashScope SDK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89904" y="3749040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1024-dim semantic embeddings for hybrid memory retrieval scoring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" y="46817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OpenAI-compatible SDK  ·  ASR / TTS / Embeddings: DashScope SDK  ·  Never mix the two SDKs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1E"/>
          </a:solidFill>
          <a:ln w="12700">
            <a:solidFill>
              <a:srgbClr val="0710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Memory: Semantic + Spaced Repetition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0C1A30"/>
          </a:solidFill>
          <a:ln w="9525">
            <a:solidFill>
              <a:srgbClr val="00C9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0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Score Formula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0.45 × cosine_sim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+ 0.55 × SR_score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8529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 Score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312724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SR_score = e^(−decay × days_since_last_recall)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adjusts per confidence level: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 → 0.05   ·   medium → 0.10   ·   low → 0.20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4251960" cy="1152144"/>
          </a:xfrm>
          <a:prstGeom prst="roundRect">
            <a:avLst>
              <a:gd name="adj" fmla="val 6349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0016" y="1463040"/>
            <a:ext cx="164592" cy="164592"/>
          </a:xfrm>
          <a:prstGeom prst="ellipse">
            <a:avLst/>
          </a:prstGeom>
          <a:solidFill>
            <a:srgbClr val="00C9A0"/>
          </a:solidFill>
          <a:ln w="12700">
            <a:solidFill>
              <a:srgbClr val="00C9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1247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56048" y="1472184"/>
            <a:ext cx="3767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Qwen-turbo extracts free-text memories after every coaching attempt. Tagged by section, skill, and confidence.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377440"/>
            <a:ext cx="4251960" cy="1152144"/>
          </a:xfrm>
          <a:prstGeom prst="roundRect">
            <a:avLst>
              <a:gd name="adj" fmla="val 6349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0016" y="2788920"/>
            <a:ext cx="164592" cy="164592"/>
          </a:xfrm>
          <a:prstGeom prst="ellipse">
            <a:avLst/>
          </a:prstGeom>
          <a:solidFill>
            <a:srgbClr val="FF6520"/>
          </a:solidFill>
          <a:ln w="12700">
            <a:solidFill>
              <a:srgbClr val="FF65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24505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56048" y="2798064"/>
            <a:ext cx="3767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text-embedding-v3 encodes each memory to a 1024-dim vector. Stored in PostgreSQL alongside confidence + recall timestamps.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703320"/>
            <a:ext cx="4251960" cy="1152144"/>
          </a:xfrm>
          <a:prstGeom prst="roundRect">
            <a:avLst>
              <a:gd name="adj" fmla="val 6349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4114800"/>
            <a:ext cx="164592" cy="164592"/>
          </a:xfrm>
          <a:prstGeom prst="ellipse">
            <a:avLst/>
          </a:prstGeom>
          <a:solidFill>
            <a:srgbClr val="9B7FFF"/>
          </a:solidFill>
          <a:ln w="12700">
            <a:solidFill>
              <a:srgbClr val="9B7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37764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56048" y="4123944"/>
            <a:ext cx="3767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session, hybrid score ranks memories. Coach and Tutor agents receive the most relevant context, not all context.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ielts.qonda.xyz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1E"/>
          </a:solidFill>
          <a:ln w="12700">
            <a:solidFill>
              <a:srgbClr val="0710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 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Pedagogy — Python Decides, Qwen Teaches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3749040"/>
          </a:xfrm>
          <a:prstGeom prst="roundRect">
            <a:avLst>
              <a:gd name="adj" fmla="val 1951"/>
            </a:avLst>
          </a:prstGeom>
          <a:solidFill>
            <a:srgbClr val="0C1A30"/>
          </a:solidFill>
          <a:ln w="9525">
            <a:solidFill>
              <a:srgbClr val="9B7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9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PEDAGOGY ENGINE  (deterministic)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3840480" cy="658368"/>
          </a:xfrm>
          <a:prstGeom prst="roundRect">
            <a:avLst>
              <a:gd name="adj" fmla="val 6944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17904"/>
            <a:ext cx="1051560" cy="182880"/>
          </a:xfrm>
          <a:prstGeom prst="roundRect">
            <a:avLst>
              <a:gd name="adj" fmla="val 15000"/>
            </a:avLst>
          </a:prstGeom>
          <a:solidFill>
            <a:srgbClr val="9B7FFF"/>
          </a:solidFill>
          <a:ln w="9525">
            <a:solidFill>
              <a:srgbClr val="9B7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1790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Learner Stages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64208" y="146304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(≤5.5) → Guided Control (6.0) → Independent (6.5–7.0) → Automatization (7.5+). Derived live from skill ranks — never stored.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21992"/>
            <a:ext cx="3840480" cy="658368"/>
          </a:xfrm>
          <a:prstGeom prst="roundRect">
            <a:avLst>
              <a:gd name="adj" fmla="val 6944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295144"/>
            <a:ext cx="1051560" cy="182880"/>
          </a:xfrm>
          <a:prstGeom prst="roundRect">
            <a:avLst>
              <a:gd name="adj" fmla="val 15000"/>
            </a:avLst>
          </a:prstGeom>
          <a:solidFill>
            <a:srgbClr val="9B7FFF"/>
          </a:solidFill>
          <a:ln w="9525">
            <a:solidFill>
              <a:srgbClr val="9B7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9514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Frameworks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64208" y="224028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Genre-Based Pedagogy, Dynamic Assessment, Focused Indirect Corrective Feedback, 4/3/2 Fluency, and 12 more. Each dominant / supporting / faded / retired by stage.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999232"/>
            <a:ext cx="3840480" cy="658368"/>
          </a:xfrm>
          <a:prstGeom prst="roundRect">
            <a:avLst>
              <a:gd name="adj" fmla="val 6944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072384"/>
            <a:ext cx="1051560" cy="182880"/>
          </a:xfrm>
          <a:prstGeom prst="roundRect">
            <a:avLst>
              <a:gd name="adj" fmla="val 15000"/>
            </a:avLst>
          </a:prstGeom>
          <a:solidFill>
            <a:srgbClr val="9B7FFF"/>
          </a:solidFill>
          <a:ln w="9525">
            <a:solidFill>
              <a:srgbClr val="9B7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7238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Fading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664208" y="301752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only reduces after ≥3 low-hint successes at ≥80% accuracy. One step at a time. Restored immediately on regression.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776472"/>
            <a:ext cx="3840480" cy="658368"/>
          </a:xfrm>
          <a:prstGeom prst="roundRect">
            <a:avLst>
              <a:gd name="adj" fmla="val 6944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49624"/>
            <a:ext cx="1051560" cy="182880"/>
          </a:xfrm>
          <a:prstGeom prst="roundRect">
            <a:avLst>
              <a:gd name="adj" fmla="val 15000"/>
            </a:avLst>
          </a:prstGeom>
          <a:solidFill>
            <a:srgbClr val="9B7FFF"/>
          </a:solidFill>
          <a:ln w="9525">
            <a:solidFill>
              <a:srgbClr val="9B7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4962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Tag Protocol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64208" y="379476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[ACTION: hint level=2] tags are stripped before display, parsed server-side into structured evidence. Every hint, attempt and outcome is recorded.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17720" y="105156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11556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137160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selects the method; Qwen delivers it. The model never controls stage transitions, framework eligibility, hint escalation, or support changes. All decisions are deterministic and auditable.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2834640"/>
            <a:ext cx="4160520" cy="347472"/>
          </a:xfrm>
          <a:prstGeom prst="roundRect">
            <a:avLst>
              <a:gd name="adj" fmla="val 10526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18304" y="2907792"/>
            <a:ext cx="128016" cy="128016"/>
          </a:xfrm>
          <a:prstGeom prst="ellipse">
            <a:avLst/>
          </a:prstGeom>
          <a:solidFill>
            <a:srgbClr val="00C9A0"/>
          </a:solidFill>
          <a:ln w="12700">
            <a:solidFill>
              <a:srgbClr val="00C9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Resolver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55080" y="2834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bands → 4 criterion stages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3255264"/>
            <a:ext cx="4160520" cy="347472"/>
          </a:xfrm>
          <a:prstGeom prst="roundRect">
            <a:avLst>
              <a:gd name="adj" fmla="val 10526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18304" y="3328416"/>
            <a:ext cx="128016" cy="128016"/>
          </a:xfrm>
          <a:prstGeom prst="ellipse">
            <a:avLst/>
          </a:prstGeom>
          <a:solidFill>
            <a:srgbClr val="FF6520"/>
          </a:solidFill>
          <a:ln w="12700">
            <a:solidFill>
              <a:srgbClr val="FF65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2552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Pedagogy Planner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55080" y="32552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active frameworks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3675888"/>
            <a:ext cx="4160520" cy="347472"/>
          </a:xfrm>
          <a:prstGeom prst="roundRect">
            <a:avLst>
              <a:gd name="adj" fmla="val 10526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18304" y="3749040"/>
            <a:ext cx="128016" cy="128016"/>
          </a:xfrm>
          <a:prstGeom prst="ellipse">
            <a:avLst/>
          </a:prstGeom>
          <a:solidFill>
            <a:srgbClr val="4A9FFF"/>
          </a:solidFill>
          <a:ln w="12700">
            <a:solidFill>
              <a:srgbClr val="4A9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36758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Plan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55080" y="3675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method + targets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17720" y="4096512"/>
            <a:ext cx="4160520" cy="347472"/>
          </a:xfrm>
          <a:prstGeom prst="roundRect">
            <a:avLst>
              <a:gd name="adj" fmla="val 10526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18304" y="4169664"/>
            <a:ext cx="128016" cy="128016"/>
          </a:xfrm>
          <a:prstGeom prst="ellipse">
            <a:avLst/>
          </a:prstGeom>
          <a:solidFill>
            <a:srgbClr val="9B7FFF"/>
          </a:solidFill>
          <a:ln w="12700">
            <a:solidFill>
              <a:srgbClr val="9B7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40965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Tutor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55080" y="40965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the plan as conversation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17720" y="4517136"/>
            <a:ext cx="4160520" cy="347472"/>
          </a:xfrm>
          <a:prstGeom prst="roundRect">
            <a:avLst>
              <a:gd name="adj" fmla="val 10526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18304" y="4590288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45171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Loop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55080" y="45171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tags → coach updates state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4672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ielts.qonda.xyz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1E"/>
          </a:solidFill>
          <a:ln w="12700">
            <a:solidFill>
              <a:srgbClr val="0710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MULTI-SURFACE COACHING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 Bot + Intelligent Study Scheduling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0C1A30"/>
          </a:solidFill>
          <a:ln w="9525">
            <a:solidFill>
              <a:srgbClr val="00C9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0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 @qieltsbot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73152" cy="73152"/>
          </a:xfrm>
          <a:prstGeom prst="ellipse">
            <a:avLst/>
          </a:prstGeom>
          <a:solidFill>
            <a:srgbClr val="00C9A0"/>
          </a:solidFill>
          <a:ln w="12700">
            <a:solidFill>
              <a:srgbClr val="00C9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716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 /start → bot asks for email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56816"/>
            <a:ext cx="73152" cy="73152"/>
          </a:xfrm>
          <a:prstGeom prst="ellipse">
            <a:avLst/>
          </a:prstGeom>
          <a:solidFill>
            <a:srgbClr val="00C9A0"/>
          </a:solidFill>
          <a:ln w="12700">
            <a:solidFill>
              <a:srgbClr val="00C9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84708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links Telegram chat_id to learner profile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432304"/>
            <a:ext cx="73152" cy="73152"/>
          </a:xfrm>
          <a:prstGeom prst="ellipse">
            <a:avLst/>
          </a:prstGeom>
          <a:solidFill>
            <a:srgbClr val="00C9A0"/>
          </a:solidFill>
          <a:ln w="12700">
            <a:solidFill>
              <a:srgbClr val="00C9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32257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agent runs agentic loop (up to 5 iterations)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907792"/>
            <a:ext cx="73152" cy="73152"/>
          </a:xfrm>
          <a:prstGeom prst="ellipse">
            <a:avLst/>
          </a:prstGeom>
          <a:solidFill>
            <a:srgbClr val="00C9A0"/>
          </a:solidFill>
          <a:ln w="12700">
            <a:solidFill>
              <a:srgbClr val="00C9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79806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tool-calling, up to 5 iterations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383280"/>
            <a:ext cx="73152" cy="73152"/>
          </a:xfrm>
          <a:prstGeom prst="ellipse">
            <a:avLst/>
          </a:prstGeom>
          <a:solidFill>
            <a:srgbClr val="00C9A0"/>
          </a:solidFill>
          <a:ln w="12700">
            <a:solidFill>
              <a:srgbClr val="00C9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2735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coaching context, schedule, skill ranks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858768"/>
            <a:ext cx="73152" cy="73152"/>
          </a:xfrm>
          <a:prstGeom prst="ellipse">
            <a:avLst/>
          </a:prstGeom>
          <a:solidFill>
            <a:srgbClr val="00C9A0"/>
          </a:solidFill>
          <a:ln w="12700">
            <a:solidFill>
              <a:srgbClr val="00C9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749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verification — Telegram Bot API, no Meta review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4114800" cy="3703320"/>
          </a:xfrm>
          <a:prstGeom prst="roundRect">
            <a:avLst>
              <a:gd name="adj" fmla="val 1975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1155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SCHEDULER + GOOGLE CALENDAR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1444752"/>
            <a:ext cx="3913632" cy="685800"/>
          </a:xfrm>
          <a:prstGeom prst="roundRect">
            <a:avLst>
              <a:gd name="adj" fmla="val 8000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508760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FF6520"/>
          </a:solidFill>
          <a:ln w="9525">
            <a:solidFill>
              <a:srgbClr val="FF65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508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77840" y="14630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sets days, time, duration, timezone in /study-plan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267712"/>
            <a:ext cx="3913632" cy="685800"/>
          </a:xfrm>
          <a:prstGeom prst="roundRect">
            <a:avLst>
              <a:gd name="adj" fmla="val 8000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2331720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FF6520"/>
          </a:solidFill>
          <a:ln w="9525">
            <a:solidFill>
              <a:srgbClr val="FF65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3317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skill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77840" y="22860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identifies lowest-ranked skill from learner_skill_ranks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090672"/>
            <a:ext cx="3913632" cy="685800"/>
          </a:xfrm>
          <a:prstGeom prst="roundRect">
            <a:avLst>
              <a:gd name="adj" fmla="val 8000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154680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FF6520"/>
          </a:solidFill>
          <a:ln w="9525">
            <a:solidFill>
              <a:srgbClr val="FF65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154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77840" y="31089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connects Google Calendar; RRULE recurring events created with study tip in description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913632"/>
            <a:ext cx="3913632" cy="685800"/>
          </a:xfrm>
          <a:prstGeom prst="roundRect">
            <a:avLst>
              <a:gd name="adj" fmla="val 8000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3977640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FF6520"/>
          </a:solidFill>
          <a:ln w="9525">
            <a:solidFill>
              <a:srgbClr val="FF65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9776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tools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77840" y="39319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schedule_study_sessions, get_study_schedule, add_one_off_session, cancel_study_schedule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4645152"/>
            <a:ext cx="3913632" cy="274320"/>
          </a:xfrm>
          <a:prstGeom prst="roundRect">
            <a:avLst>
              <a:gd name="adj" fmla="val 13333"/>
            </a:avLst>
          </a:prstGeom>
          <a:solidFill>
            <a:srgbClr val="152641"/>
          </a:solidFill>
          <a:ln w="9525">
            <a:solidFill>
              <a:srgbClr val="FF65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6542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GOOGLE_CALENDAR_REDIRECT_URI in prod .env + test user in GCP Console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04672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ielts.qonda.xyz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1E"/>
          </a:solidFill>
          <a:ln w="12700">
            <a:solidFill>
              <a:srgbClr val="0710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Full-Stack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993392" cy="3730752"/>
          </a:xfrm>
          <a:prstGeom prst="roundRect">
            <a:avLst>
              <a:gd name="adj" fmla="val 3670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1993392" cy="256032"/>
          </a:xfrm>
          <a:prstGeom prst="roundRect">
            <a:avLst>
              <a:gd name="adj" fmla="val 21429"/>
            </a:avLst>
          </a:prstGeom>
          <a:solidFill>
            <a:srgbClr val="4A9FFF">
              <a:alpha val="25000"/>
            </a:srgbClr>
          </a:solidFill>
          <a:ln w="12700">
            <a:solidFill>
              <a:srgbClr val="4A9FFF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810512" cy="841248"/>
          </a:xfrm>
          <a:prstGeom prst="roundRect">
            <a:avLst>
              <a:gd name="adj" fmla="val 5435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463040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·  Vite  ·  Tailwind CSS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41448"/>
            <a:ext cx="1810512" cy="841248"/>
          </a:xfrm>
          <a:prstGeom prst="roundRect">
            <a:avLst>
              <a:gd name="adj" fmla="val 5435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487168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 ·  React Router v6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465576"/>
            <a:ext cx="1810512" cy="841248"/>
          </a:xfrm>
          <a:prstGeom prst="roundRect">
            <a:avLst>
              <a:gd name="adj" fmla="val 5435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511296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localStorage  ·  SSE streaming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87168" y="1051560"/>
            <a:ext cx="1993392" cy="3730752"/>
          </a:xfrm>
          <a:prstGeom prst="roundRect">
            <a:avLst>
              <a:gd name="adj" fmla="val 3670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87168" y="1051560"/>
            <a:ext cx="1993392" cy="256032"/>
          </a:xfrm>
          <a:prstGeom prst="roundRect">
            <a:avLst>
              <a:gd name="adj" fmla="val 21429"/>
            </a:avLst>
          </a:prstGeom>
          <a:solidFill>
            <a:srgbClr val="34D399">
              <a:alpha val="25000"/>
            </a:srgbClr>
          </a:solidFill>
          <a:ln w="12700">
            <a:solidFill>
              <a:srgbClr val="34D399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10515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78608" y="1417320"/>
            <a:ext cx="1810512" cy="841248"/>
          </a:xfrm>
          <a:prstGeom prst="roundRect">
            <a:avLst>
              <a:gd name="adj" fmla="val 5435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463040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Uvicorn  ·  Python 3.11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78608" y="2441448"/>
            <a:ext cx="1810512" cy="841248"/>
          </a:xfrm>
          <a:prstGeom prst="roundRect">
            <a:avLst>
              <a:gd name="adj" fmla="val 5435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2487168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  ·  PostgreSQL 16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78608" y="3465576"/>
            <a:ext cx="1810512" cy="841248"/>
          </a:xfrm>
          <a:prstGeom prst="roundRect">
            <a:avLst>
              <a:gd name="adj" fmla="val 5435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3511296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 ·  Google OAuth  ·  Authlib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08576" y="1051560"/>
            <a:ext cx="1993392" cy="3730752"/>
          </a:xfrm>
          <a:prstGeom prst="roundRect">
            <a:avLst>
              <a:gd name="adj" fmla="val 3670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08576" y="1051560"/>
            <a:ext cx="1993392" cy="256032"/>
          </a:xfrm>
          <a:prstGeom prst="roundRect">
            <a:avLst>
              <a:gd name="adj" fmla="val 21429"/>
            </a:avLst>
          </a:prstGeom>
          <a:solidFill>
            <a:srgbClr val="FF6520">
              <a:alpha val="25000"/>
            </a:srgbClr>
          </a:solidFill>
          <a:ln w="12700">
            <a:solidFill>
              <a:srgbClr val="FF6520">
                <a:alpha val="2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08576" y="10515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QWEN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0016" y="1417320"/>
            <a:ext cx="1810512" cy="841248"/>
          </a:xfrm>
          <a:prstGeom prst="roundRect">
            <a:avLst>
              <a:gd name="adj" fmla="val 5435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463040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qwen-plus / turbo / vl-plus  (OpenAI SDK)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0016" y="2441448"/>
            <a:ext cx="1810512" cy="841248"/>
          </a:xfrm>
          <a:prstGeom prst="roundRect">
            <a:avLst>
              <a:gd name="adj" fmla="val 5435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487168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qwen3-asr-flash / tts-flash  (DashScope)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0016" y="3465576"/>
            <a:ext cx="1810512" cy="841248"/>
          </a:xfrm>
          <a:prstGeom prst="roundRect">
            <a:avLst>
              <a:gd name="adj" fmla="val 5435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511296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text-embedding-v3  ·  Alibaba OSS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9984" y="1051560"/>
            <a:ext cx="1993392" cy="3730752"/>
          </a:xfrm>
          <a:prstGeom prst="roundRect">
            <a:avLst>
              <a:gd name="adj" fmla="val 3670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9984" y="1051560"/>
            <a:ext cx="1993392" cy="256032"/>
          </a:xfrm>
          <a:prstGeom prst="roundRect">
            <a:avLst>
              <a:gd name="adj" fmla="val 21429"/>
            </a:avLst>
          </a:prstGeom>
          <a:solidFill>
            <a:srgbClr val="9B7FFF">
              <a:alpha val="25000"/>
            </a:srgbClr>
          </a:solidFill>
          <a:ln w="12700">
            <a:solidFill>
              <a:srgbClr val="9B7FFF">
                <a:alpha val="2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9984" y="10515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/ OPS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21424" y="1417320"/>
            <a:ext cx="1810512" cy="841248"/>
          </a:xfrm>
          <a:prstGeom prst="roundRect">
            <a:avLst>
              <a:gd name="adj" fmla="val 5435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94576" y="1463040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 ·  Nginx  ·  Let's Encrypt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21424" y="2441448"/>
            <a:ext cx="1810512" cy="841248"/>
          </a:xfrm>
          <a:prstGeom prst="roundRect">
            <a:avLst>
              <a:gd name="adj" fmla="val 5435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94576" y="2487168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Cloud ECS Singapore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21424" y="3465576"/>
            <a:ext cx="1810512" cy="841248"/>
          </a:xfrm>
          <a:prstGeom prst="roundRect">
            <a:avLst>
              <a:gd name="adj" fmla="val 5435"/>
            </a:avLst>
          </a:prstGeom>
          <a:solidFill>
            <a:srgbClr val="152641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94576" y="3511296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CI  ·  postgres_data volume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" y="46817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google-auth-oauthlib  ·  pgvector  ·  pydub  ·  ffmpeg  ·  Telegram Bot API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1E"/>
          </a:solidFill>
          <a:ln w="12700">
            <a:solidFill>
              <a:srgbClr val="0710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FF6520">
              <a:alpha val="10000"/>
            </a:srgbClr>
          </a:solidFill>
          <a:ln w="12700">
            <a:solidFill>
              <a:srgbClr val="FF6520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+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Qonda Achieves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1938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APIs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49424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· Vision · ASR · TTS · Embeddings — one unified system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05156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0972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68880" y="1938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Tools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249424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backend functions powering Web App and Telegram Bot from one implementation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05156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0972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4572000" y="1938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249424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frameworks, 4 learner stages, adaptive pedagogy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75120" y="105156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0972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6675120" y="1938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Sub-Skills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2249424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(13) · Reading (10) · Speaking (9) · Listening (8) — every skill ranked and remembered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2186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493008"/>
            <a:ext cx="4160520" cy="384048"/>
          </a:xfrm>
          <a:prstGeom prst="roundRect">
            <a:avLst>
              <a:gd name="adj" fmla="val 11905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" y="3666744"/>
            <a:ext cx="73152" cy="73152"/>
          </a:xfrm>
          <a:prstGeom prst="ellipse">
            <a:avLst/>
          </a:prstGeom>
          <a:solidFill>
            <a:srgbClr val="00C9A0"/>
          </a:solidFill>
          <a:ln w="12700">
            <a:solidFill>
              <a:srgbClr val="00C9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493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practice in chat: essay → score, voice note → Speaking feedback, all in Telegram/WhatsApp thread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995928"/>
            <a:ext cx="4160520" cy="384048"/>
          </a:xfrm>
          <a:prstGeom prst="roundRect">
            <a:avLst>
              <a:gd name="adj" fmla="val 11905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" y="4169664"/>
            <a:ext cx="73152" cy="73152"/>
          </a:xfrm>
          <a:prstGeom prst="ellipse">
            <a:avLst/>
          </a:prstGeom>
          <a:solidFill>
            <a:srgbClr val="00C9A0"/>
          </a:solidFill>
          <a:ln w="12700">
            <a:solidFill>
              <a:srgbClr val="00C9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9959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channel (same Qwen agent, Meta verification pending)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493008"/>
            <a:ext cx="4160520" cy="384048"/>
          </a:xfrm>
          <a:prstGeom prst="roundRect">
            <a:avLst>
              <a:gd name="adj" fmla="val 11905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91456" y="3666744"/>
            <a:ext cx="73152" cy="73152"/>
          </a:xfrm>
          <a:prstGeom prst="ellipse">
            <a:avLst/>
          </a:prstGeom>
          <a:solidFill>
            <a:srgbClr val="00C9A0"/>
          </a:solidFill>
          <a:ln w="12700">
            <a:solidFill>
              <a:srgbClr val="00C9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493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nudges: "You have not practised Writing in 3 days — here is a quick task"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995928"/>
            <a:ext cx="4160520" cy="384048"/>
          </a:xfrm>
          <a:prstGeom prst="roundRect">
            <a:avLst>
              <a:gd name="adj" fmla="val 11905"/>
            </a:avLst>
          </a:prstGeom>
          <a:solidFill>
            <a:srgbClr val="0C1A30"/>
          </a:solidFill>
          <a:ln w="9525">
            <a:solidFill>
              <a:srgbClr val="1A2E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91456" y="4169664"/>
            <a:ext cx="73152" cy="73152"/>
          </a:xfrm>
          <a:prstGeom prst="ellipse">
            <a:avLst/>
          </a:prstGeom>
          <a:solidFill>
            <a:srgbClr val="00C9A0"/>
          </a:solidFill>
          <a:ln w="12700">
            <a:solidFill>
              <a:srgbClr val="00C9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9959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 — human tutors query learner coaching profile and pick up where the app left off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" y="47091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ielts.qonda.xyz  ·  @qieltsbot  ·  github.com/DareAdekunle/IELTS-memoryCoach-website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Qonda IELTS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Qonda IELTS — AI-Powered IELTS Memory Coach</dc:title>
  <dc:subject>PptxGenJS Presentation</dc:subject>
  <dc:creator>Dare Adekunle</dc:creator>
  <cp:lastModifiedBy>Dare Adekunle</cp:lastModifiedBy>
  <cp:revision>1</cp:revision>
  <dcterms:created xsi:type="dcterms:W3CDTF">2026-07-19T15:48:29Z</dcterms:created>
  <dcterms:modified xsi:type="dcterms:W3CDTF">2026-07-19T15:48:29Z</dcterms:modified>
</cp:coreProperties>
</file>